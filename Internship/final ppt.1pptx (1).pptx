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embeddedFontLst>
    <p:embeddedFont>
      <p:font typeface="Marcellus" panose="020B0604020202020204" charset="0"/>
      <p:regular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Montserrat Bold" panose="00000800000000000000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7461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EC8A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4">
              <a:alpha val="95000"/>
            </a:srgbClr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970558"/>
            <a:ext cx="2679931" cy="287139"/>
          </a:xfrm>
          <a:prstGeom prst="roundRect">
            <a:avLst>
              <a:gd name="adj" fmla="val 22118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74879" y="1027212"/>
            <a:ext cx="3062707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MIT WORLD PEACE UNIVERSITY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61475" y="1333302"/>
            <a:ext cx="10868745" cy="706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2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Internship Progress Presentation</a:t>
            </a:r>
            <a:endParaRPr lang="en-US" sz="4250" dirty="0"/>
          </a:p>
        </p:txBody>
      </p:sp>
      <p:sp>
        <p:nvSpPr>
          <p:cNvPr id="5" name="Text 3"/>
          <p:cNvSpPr/>
          <p:nvPr/>
        </p:nvSpPr>
        <p:spPr>
          <a:xfrm>
            <a:off x="661475" y="2115344"/>
            <a:ext cx="10868745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DevOps Internship at Arixel Technologies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61475" y="2752030"/>
            <a:ext cx="1147833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DevOps · DevSecOps · CI/CD · Docker · GitLab · Disaster Recovery · Security Scanning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61475" y="3210322"/>
            <a:ext cx="10868745" cy="2218730"/>
          </a:xfrm>
          <a:prstGeom prst="roundRect">
            <a:avLst>
              <a:gd name="adj" fmla="val 3578"/>
            </a:avLst>
          </a:prstGeom>
          <a:solidFill>
            <a:srgbClr val="FFFFF4"/>
          </a:solidFill>
          <a:ln w="1905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680524" y="3229372"/>
            <a:ext cx="5415323" cy="1090315"/>
          </a:xfrm>
          <a:prstGeom prst="rect">
            <a:avLst/>
          </a:prstGeom>
          <a:solidFill>
            <a:srgbClr val="FFFF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69531" y="3418384"/>
            <a:ext cx="5037309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Student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869531" y="3885009"/>
            <a:ext cx="503730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Renish Lale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095848" y="3229372"/>
            <a:ext cx="5415323" cy="1090315"/>
          </a:xfrm>
          <a:prstGeom prst="rect">
            <a:avLst/>
          </a:prstGeom>
          <a:solidFill>
            <a:srgbClr val="FFFF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Shape 10"/>
          <p:cNvSpPr/>
          <p:nvPr/>
        </p:nvSpPr>
        <p:spPr>
          <a:xfrm>
            <a:off x="6095848" y="3229372"/>
            <a:ext cx="25399" cy="1090315"/>
          </a:xfrm>
          <a:prstGeom prst="roundRect">
            <a:avLst>
              <a:gd name="adj" fmla="val 312562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284854" y="3418384"/>
            <a:ext cx="5037309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</a:rPr>
              <a:t>Industrial Mentor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284854" y="3885009"/>
            <a:ext cx="503730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latin typeface="Montserrat" panose="00000500000000000000" pitchFamily="2" charset="0"/>
              </a:rPr>
              <a:t>Mr. Vinay Sabnis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latin typeface="Montserrat" panose="00000500000000000000" pitchFamily="2" charset="0"/>
              </a:rPr>
              <a:t>Contact : 7744035488</a:t>
            </a:r>
          </a:p>
        </p:txBody>
      </p:sp>
      <p:sp>
        <p:nvSpPr>
          <p:cNvPr id="15" name="Shape 13"/>
          <p:cNvSpPr/>
          <p:nvPr/>
        </p:nvSpPr>
        <p:spPr>
          <a:xfrm>
            <a:off x="680524" y="4457897"/>
            <a:ext cx="5415323" cy="1090315"/>
          </a:xfrm>
          <a:prstGeom prst="rect">
            <a:avLst/>
          </a:prstGeom>
          <a:solidFill>
            <a:srgbClr val="FFFFF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6" name="Shape 14"/>
          <p:cNvSpPr/>
          <p:nvPr/>
        </p:nvSpPr>
        <p:spPr>
          <a:xfrm>
            <a:off x="671000" y="4477269"/>
            <a:ext cx="5415323" cy="25400"/>
          </a:xfrm>
          <a:prstGeom prst="roundRect">
            <a:avLst>
              <a:gd name="adj" fmla="val 312550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69531" y="4508698"/>
            <a:ext cx="5037309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Faculty Mentor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69531" y="4975324"/>
            <a:ext cx="503730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Prof. Yogesh Gaikwad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095848" y="4445839"/>
            <a:ext cx="5415323" cy="1090315"/>
          </a:xfrm>
          <a:prstGeom prst="rect">
            <a:avLst/>
          </a:prstGeom>
          <a:solidFill>
            <a:srgbClr val="FFFFF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095848" y="4471308"/>
            <a:ext cx="5415323" cy="25400"/>
          </a:xfrm>
          <a:prstGeom prst="roundRect">
            <a:avLst>
              <a:gd name="adj" fmla="val 312550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284854" y="4508698"/>
            <a:ext cx="5037309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Company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284854" y="4975324"/>
            <a:ext cx="503730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Arixel Technologies</a:t>
            </a:r>
            <a:endParaRPr lang="en-US" sz="1450" dirty="0"/>
          </a:p>
        </p:txBody>
      </p:sp>
      <p:pic>
        <p:nvPicPr>
          <p:cNvPr id="24" name="Picture 23" descr="MIT World Peace University - YouTube">
            <a:extLst>
              <a:ext uri="{FF2B5EF4-FFF2-40B4-BE49-F238E27FC236}">
                <a16:creationId xmlns:a16="http://schemas.microsoft.com/office/drawing/2014/main" id="{9F16DB0B-AE13-78AF-E45E-BB1E55CF0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303" y="85000"/>
            <a:ext cx="1259074" cy="1259074"/>
          </a:xfrm>
          <a:prstGeom prst="rect">
            <a:avLst/>
          </a:prstGeom>
        </p:spPr>
      </p:pic>
      <p:sp>
        <p:nvSpPr>
          <p:cNvPr id="26" name="Shape 14">
            <a:extLst>
              <a:ext uri="{FF2B5EF4-FFF2-40B4-BE49-F238E27FC236}">
                <a16:creationId xmlns:a16="http://schemas.microsoft.com/office/drawing/2014/main" id="{0ECA9713-5232-3C7F-DADC-5EDA6E2450FC}"/>
              </a:ext>
            </a:extLst>
          </p:cNvPr>
          <p:cNvSpPr/>
          <p:nvPr/>
        </p:nvSpPr>
        <p:spPr>
          <a:xfrm>
            <a:off x="690048" y="5372222"/>
            <a:ext cx="5415323" cy="25400"/>
          </a:xfrm>
          <a:prstGeom prst="roundRect">
            <a:avLst>
              <a:gd name="adj" fmla="val 312550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14">
            <a:extLst>
              <a:ext uri="{FF2B5EF4-FFF2-40B4-BE49-F238E27FC236}">
                <a16:creationId xmlns:a16="http://schemas.microsoft.com/office/drawing/2014/main" id="{B10801B9-286F-2D1C-CCDB-3618EFF51718}"/>
              </a:ext>
            </a:extLst>
          </p:cNvPr>
          <p:cNvSpPr/>
          <p:nvPr/>
        </p:nvSpPr>
        <p:spPr>
          <a:xfrm>
            <a:off x="6095848" y="5370941"/>
            <a:ext cx="5415323" cy="25400"/>
          </a:xfrm>
          <a:prstGeom prst="roundRect">
            <a:avLst>
              <a:gd name="adj" fmla="val 312550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10">
            <a:extLst>
              <a:ext uri="{FF2B5EF4-FFF2-40B4-BE49-F238E27FC236}">
                <a16:creationId xmlns:a16="http://schemas.microsoft.com/office/drawing/2014/main" id="{1E06185B-F85E-D3E5-2A1D-1012233540BC}"/>
              </a:ext>
            </a:extLst>
          </p:cNvPr>
          <p:cNvSpPr/>
          <p:nvPr/>
        </p:nvSpPr>
        <p:spPr>
          <a:xfrm>
            <a:off x="6095848" y="4281907"/>
            <a:ext cx="25399" cy="1090315"/>
          </a:xfrm>
          <a:prstGeom prst="roundRect">
            <a:avLst>
              <a:gd name="adj" fmla="val 312562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49697"/>
            <a:ext cx="10868745" cy="706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2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Table of Contents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61475" y="1834158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01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139454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61475" y="2284710"/>
            <a:ext cx="3496877" cy="70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Objectives of the Internship Program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347359" y="1834158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02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47359" y="2139454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347359" y="2284710"/>
            <a:ext cx="3496877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Company Introduction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033244" y="1834158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03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33244" y="2139454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033244" y="2284710"/>
            <a:ext cx="3496877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Our Role in the Company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1475" y="3321844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04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1475" y="3627140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1475" y="3772396"/>
            <a:ext cx="3496877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Internship Action Plan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347359" y="3321844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347359" y="3627140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347359" y="3772396"/>
            <a:ext cx="3496877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Overview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033244" y="3321844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06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033244" y="3627140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8033244" y="3772396"/>
            <a:ext cx="3496877" cy="70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Modules &amp; Technology Stack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61475" y="480953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07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1475" y="5114826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61475" y="5260082"/>
            <a:ext cx="3496877" cy="353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Key Learnings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4347359" y="480953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08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347359" y="5114826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347359" y="5260082"/>
            <a:ext cx="3496877" cy="70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Key Suggestions from Mentors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8033244" y="480953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09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8033244" y="5114826"/>
            <a:ext cx="3496877" cy="25400"/>
          </a:xfrm>
          <a:prstGeom prst="rect">
            <a:avLst/>
          </a:prstGeom>
          <a:solidFill>
            <a:srgbClr val="FF954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8033244" y="5260082"/>
            <a:ext cx="3496877" cy="70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Action Plan for Remaining Period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50769" y="607616"/>
            <a:ext cx="1660483" cy="1369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FF95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836017"/>
            <a:ext cx="10868745" cy="556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3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Objectives of the Internship Program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661475" y="1439069"/>
            <a:ext cx="10868745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Defining Goals for a Productive Industry Experience</a:t>
            </a:r>
            <a:endParaRPr lang="en-US" sz="16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893094"/>
            <a:ext cx="297649" cy="2976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1475" y="2337197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Practical DevOps Experience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661475" y="2685653"/>
            <a:ext cx="3525253" cy="518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Gain hands-on exposure to DevOps and DevSecOps workflows used in real industry environments.</a:t>
            </a:r>
            <a:endParaRPr lang="en-US" sz="11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3171" y="1893094"/>
            <a:ext cx="297649" cy="2976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33171" y="2337197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Containerisation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4333171" y="2685653"/>
            <a:ext cx="3525253" cy="345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 Docker, container images, and container-based deployment methodologies.</a:t>
            </a:r>
            <a:endParaRPr lang="en-US" sz="11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04868" y="1893094"/>
            <a:ext cx="297649" cy="2976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04868" y="2337197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Management Workflows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8004868" y="2685653"/>
            <a:ext cx="3525253" cy="518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 software development lifecycle management using GitLab, Jira, and Zoho Projects.</a:t>
            </a:r>
            <a:endParaRPr lang="en-US" sz="11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3438525"/>
            <a:ext cx="297649" cy="2976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61475" y="3882628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Professional Skills</a:t>
            </a:r>
            <a:endParaRPr lang="en-US" sz="1650" dirty="0"/>
          </a:p>
        </p:txBody>
      </p:sp>
      <p:sp>
        <p:nvSpPr>
          <p:cNvPr id="17" name="Text 11"/>
          <p:cNvSpPr/>
          <p:nvPr/>
        </p:nvSpPr>
        <p:spPr>
          <a:xfrm>
            <a:off x="661475" y="4231084"/>
            <a:ext cx="3525253" cy="518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Improve problem-solving, teamwork, technical communication, and documentation capabilities.</a:t>
            </a:r>
            <a:endParaRPr lang="en-US" sz="11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33171" y="3438525"/>
            <a:ext cx="297649" cy="2976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4333171" y="3882628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CI/CD Automation</a:t>
            </a:r>
            <a:endParaRPr lang="en-US" sz="1650" dirty="0"/>
          </a:p>
        </p:txBody>
      </p:sp>
      <p:sp>
        <p:nvSpPr>
          <p:cNvPr id="20" name="Text 13"/>
          <p:cNvSpPr/>
          <p:nvPr/>
        </p:nvSpPr>
        <p:spPr>
          <a:xfrm>
            <a:off x="4333171" y="4231084"/>
            <a:ext cx="3525253" cy="345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 GitLab CI/CD pipeline creation, configuration, and troubleshooting.</a:t>
            </a:r>
            <a:endParaRPr lang="en-US" sz="115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04868" y="3438525"/>
            <a:ext cx="297649" cy="297656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004868" y="3882628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Applied Industry Project</a:t>
            </a:r>
            <a:endParaRPr lang="en-US" sz="1650" dirty="0"/>
          </a:p>
        </p:txBody>
      </p:sp>
      <p:sp>
        <p:nvSpPr>
          <p:cNvPr id="23" name="Text 15"/>
          <p:cNvSpPr/>
          <p:nvPr/>
        </p:nvSpPr>
        <p:spPr>
          <a:xfrm>
            <a:off x="8004868" y="4231084"/>
            <a:ext cx="3525253" cy="345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Apply theoretical knowledge to build an industry-oriented DevSecOps platform.</a:t>
            </a:r>
            <a:endParaRPr lang="en-US" sz="115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4983956"/>
            <a:ext cx="297649" cy="297656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61475" y="5428059"/>
            <a:ext cx="3525253" cy="278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Application Security</a:t>
            </a:r>
            <a:endParaRPr lang="en-US" sz="1650" dirty="0"/>
          </a:p>
        </p:txBody>
      </p:sp>
      <p:sp>
        <p:nvSpPr>
          <p:cNvPr id="26" name="Text 17"/>
          <p:cNvSpPr/>
          <p:nvPr/>
        </p:nvSpPr>
        <p:spPr>
          <a:xfrm>
            <a:off x="661475" y="5776516"/>
            <a:ext cx="3525253" cy="518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Understand security integration through tools such as SonarQube, Fortify, Checkmarx, and Veracode.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1136749"/>
            <a:ext cx="10868745" cy="529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Company Introduction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61475" y="1709043"/>
            <a:ext cx="1086874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Arixel Technologies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1475" y="2133402"/>
            <a:ext cx="10868745" cy="322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Arixel Technologies is a technology organisation focused on delivering modern software and IT solutions. The company works with technologies spanning software development, DevOps practices, and cloud-based services.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1475" y="2615307"/>
            <a:ext cx="1086874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Core Focus Areas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1475" y="3039666"/>
            <a:ext cx="10868745" cy="954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Software Development &amp; IT Solutions</a:t>
            </a:r>
            <a:endParaRPr lang="en-US" sz="1100" dirty="0"/>
          </a:p>
          <a:p>
            <a:pPr marL="223520" indent="-223520" algn="l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 &amp; DevSecOps Engineering</a:t>
            </a:r>
            <a:endParaRPr lang="en-US" sz="1100" dirty="0"/>
          </a:p>
          <a:p>
            <a:pPr marL="223520" indent="-223520" algn="l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Cloud Infrastructure &amp; Automation</a:t>
            </a:r>
            <a:endParaRPr lang="en-US" sz="1100" dirty="0"/>
          </a:p>
          <a:p>
            <a:pPr marL="223520" indent="-223520" algn="l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Security &amp; Compliance</a:t>
            </a:r>
            <a:endParaRPr lang="en-US" sz="1100" dirty="0"/>
          </a:p>
          <a:p>
            <a:pPr marL="223520" indent="-223520" algn="l">
              <a:lnSpc>
                <a:spcPct val="95000"/>
              </a:lnSpc>
              <a:buSzPct val="100000"/>
              <a:buChar char="•"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Containerisation &amp; Deployment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1475" y="4114205"/>
            <a:ext cx="2637466" cy="959842"/>
          </a:xfrm>
          <a:prstGeom prst="roundRect">
            <a:avLst>
              <a:gd name="adj" fmla="val 6203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15855" y="4268589"/>
            <a:ext cx="232870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🌐</a:t>
            </a: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Domain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5855" y="4597202"/>
            <a:ext cx="2328705" cy="161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Software &amp; Technology Services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05202" y="4114205"/>
            <a:ext cx="2637466" cy="959842"/>
          </a:xfrm>
          <a:prstGeom prst="roundRect">
            <a:avLst>
              <a:gd name="adj" fmla="val 6203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559582" y="4268589"/>
            <a:ext cx="232870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💼</a:t>
            </a: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Nature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59582" y="4597202"/>
            <a:ext cx="2328705" cy="161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Solutions &amp; Engineering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48928" y="4114205"/>
            <a:ext cx="2637466" cy="959842"/>
          </a:xfrm>
          <a:prstGeom prst="roundRect">
            <a:avLst>
              <a:gd name="adj" fmla="val 6203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303309" y="4268589"/>
            <a:ext cx="2328705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🔧</a:t>
            </a: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Speciality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3309" y="4597202"/>
            <a:ext cx="2328705" cy="161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DevOps, DevSecOps, Cloud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92655" y="4114205"/>
            <a:ext cx="2637565" cy="959842"/>
          </a:xfrm>
          <a:prstGeom prst="roundRect">
            <a:avLst>
              <a:gd name="adj" fmla="val 6203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9047035" y="4268589"/>
            <a:ext cx="2328804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🏢</a:t>
            </a: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Internship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047035" y="4597202"/>
            <a:ext cx="2328804" cy="3224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Industry-Oriented Project Exposure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61475" y="5180310"/>
            <a:ext cx="10868745" cy="798612"/>
          </a:xfrm>
          <a:prstGeom prst="roundRect">
            <a:avLst>
              <a:gd name="adj" fmla="val 745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15855" y="5334695"/>
            <a:ext cx="10559984" cy="2649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📍</a:t>
            </a:r>
            <a:r>
              <a:rPr lang="en-US" sz="16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Engagement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5855" y="5663307"/>
            <a:ext cx="10559984" cy="161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1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Professional Technical Internship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96950"/>
            <a:ext cx="10868745" cy="6004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6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My Role in the Company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61475" y="1651992"/>
            <a:ext cx="10868745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Position: DevOps Intern | Arixel Technologies</a:t>
            </a:r>
            <a:endParaRPr lang="en-US" sz="1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57016"/>
            <a:ext cx="5366112" cy="11276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7354" y="2336701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⚙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DevOps Tools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7354" y="2718792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Learned Jenkins, GitLab, Zoho Projects, and Jira for managing development workflows.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4108" y="2157016"/>
            <a:ext cx="5366112" cy="11276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9987" y="2336701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🛡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DevSecOps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19987" y="2718792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Understood DevSecOps principles and how security integrates into software delivery pipelines.</a:t>
            </a:r>
            <a:endParaRPr lang="en-US" sz="12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421162"/>
            <a:ext cx="5366112" cy="11276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354" y="3600847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🔀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GitLab &amp; CI/CD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917354" y="3982938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Explored GitLab repositories, branches, commits, pipelines, runners, and CI/CD automation.</a:t>
            </a:r>
            <a:endParaRPr lang="en-US" sz="12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4108" y="3421162"/>
            <a:ext cx="5366112" cy="112762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19987" y="3600847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🐳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Docker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6419987" y="3982938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Learned Docker, container images, containerisation, and container-based deployment.</a:t>
            </a:r>
            <a:endParaRPr lang="en-US" sz="125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685308"/>
            <a:ext cx="5366112" cy="11276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17354" y="4864993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🔒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Application Security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917354" y="5247084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Studied Fortify, SonarQube, Checkmarx, and Veracode for application security scanning.</a:t>
            </a:r>
            <a:endParaRPr lang="en-US" sz="125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4108" y="4685308"/>
            <a:ext cx="5366112" cy="1127621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419987" y="4864993"/>
            <a:ext cx="4930552" cy="3002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🏗</a:t>
            </a:r>
            <a:r>
              <a:rPr lang="en-US" sz="18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Project Work</a:t>
            </a:r>
            <a:endParaRPr lang="en-US" sz="1800" dirty="0"/>
          </a:p>
        </p:txBody>
      </p:sp>
      <p:sp>
        <p:nvSpPr>
          <p:cNvPr id="23" name="Text 15"/>
          <p:cNvSpPr/>
          <p:nvPr/>
        </p:nvSpPr>
        <p:spPr>
          <a:xfrm>
            <a:off x="6419987" y="5247084"/>
            <a:ext cx="4930552" cy="38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an Enterprise DevSecOps Disaster Recovery &amp; Deployment Platform as the internship project.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717848"/>
            <a:ext cx="10868745" cy="3946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3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Internship Action Plan</a:t>
            </a:r>
            <a:endParaRPr lang="en-US" sz="2350" dirty="0"/>
          </a:p>
        </p:txBody>
      </p:sp>
      <p:sp>
        <p:nvSpPr>
          <p:cNvPr id="5" name="Text 3"/>
          <p:cNvSpPr/>
          <p:nvPr/>
        </p:nvSpPr>
        <p:spPr>
          <a:xfrm>
            <a:off x="661475" y="1136055"/>
            <a:ext cx="10868745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Weekly Learning Milestones | June 2026 – July 2026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076158" y="717848"/>
            <a:ext cx="12700" cy="49022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673087" y="1534220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977086" y="1421805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004817" y="1422202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1475" y="1454745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1 | 3rd – 7th June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1475" y="1687413"/>
            <a:ext cx="4906542" cy="21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Introduced to project management tools such as Jenkins, GitLab, Zoho Projects, and Jira, and learned their basic features and uses.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201910" y="2074366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977086" y="1961952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004817" y="1962348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3678" y="1994892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2 | 8th – 14th June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23678" y="2227560"/>
            <a:ext cx="4906542" cy="21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and delivered presentations explaining various project management tools to improve understanding and communication.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673087" y="2572048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5977086" y="2459633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004817" y="2460030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1475" y="2492573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3 | 15th – 21st June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1475" y="2725241"/>
            <a:ext cx="4906542" cy="21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Studied application security tools and gained an understanding of their role in software security.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01910" y="3069828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977086" y="2957413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004817" y="2957810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23678" y="2990354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4 | 22nd – 28th June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23678" y="3223022"/>
            <a:ext cx="4906542" cy="21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presentations and explored application security concepts through practical discussions.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73087" y="3567609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977086" y="3455194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6004817" y="3455591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1475" y="3488134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5 | 29th June – 5th July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61475" y="3720802"/>
            <a:ext cx="4906542" cy="2137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Learned the fundamentals of DevSecOps and its importance in secure software development.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01910" y="4065389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31"/>
          <p:cNvSpPr/>
          <p:nvPr/>
        </p:nvSpPr>
        <p:spPr>
          <a:xfrm>
            <a:off x="5977086" y="3952974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6004817" y="3953371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6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23678" y="3985915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6 | 6th – 12th July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623678" y="4218583"/>
            <a:ext cx="4906542" cy="106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Followed the GitLab learning roadmap. Learned GitLab basics and CI/CD concepts.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673087" y="4563170"/>
            <a:ext cx="316698" cy="12700"/>
          </a:xfrm>
          <a:prstGeom prst="roundRect">
            <a:avLst>
              <a:gd name="adj" fmla="val 349177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5977086" y="4450755"/>
            <a:ext cx="237524" cy="237530"/>
          </a:xfrm>
          <a:prstGeom prst="roundRect">
            <a:avLst>
              <a:gd name="adj" fmla="val 18670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6004817" y="4451152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7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1475" y="4483695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Week 7 | 13th – 17th July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61475" y="4716363"/>
            <a:ext cx="4906542" cy="106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Successfully created GitLab projects and initiated CI/CD pipelines.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623678" y="4981476"/>
            <a:ext cx="4906542" cy="197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6623678" y="5214144"/>
            <a:ext cx="4906542" cy="106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004817" y="5446713"/>
            <a:ext cx="182062" cy="236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61475" y="5711924"/>
            <a:ext cx="4906542" cy="1068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84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91989"/>
            <a:ext cx="10868745" cy="494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9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Overview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523504"/>
            <a:ext cx="10868745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Enterprise DevSecOps Disaster Recovery &amp; Deployment Platform</a:t>
            </a:r>
            <a:endParaRPr lang="en-US" sz="14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4238" y="2683173"/>
            <a:ext cx="4866161" cy="26472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42163" y="2002234"/>
            <a:ext cx="3594308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⚠</a:t>
            </a: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Problem Statement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942163" y="2342059"/>
            <a:ext cx="3594308" cy="584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Organizations require a reliable, centralized method to monitor infrastructure health, manage backups, track CI/CD deployments, and respond rapidly to system failures — all within a unified operational view.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942163" y="3019623"/>
            <a:ext cx="3594308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✅</a:t>
            </a: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Our Solution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42163" y="3359448"/>
            <a:ext cx="3594308" cy="2067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spcAft>
                <a:spcPts val="650"/>
              </a:spcAft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web-based platform providing a centralized dashboard for infrastructure monitoring, GitLab CI/CD pipeline tracking, automated backup management, and disaster recovery workflows — enabling faster response and recovery.</a:t>
            </a:r>
            <a:endParaRPr lang="en-US" sz="1000" dirty="0"/>
          </a:p>
          <a:p>
            <a:pPr marL="0" indent="0" algn="l">
              <a:lnSpc>
                <a:spcPct val="92000"/>
              </a:lnSpc>
              <a:spcAft>
                <a:spcPts val="650"/>
              </a:spcAft>
              <a:buNone/>
            </a:pPr>
            <a:r>
              <a:rPr lang="en-US" sz="1000" b="1" dirty="0">
                <a:solidFill>
                  <a:srgbClr val="67534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Platform Workflow:</a:t>
            </a: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Infrastructure Monitoring → CI/CD Pipeline Tracking → Backup Management → Failover Simulation → Recovery Monitoring → RTO / RPO Analysis</a:t>
            </a:r>
            <a:endParaRPr lang="en-US" sz="1000" dirty="0"/>
          </a:p>
          <a:p>
            <a:pPr marL="0" indent="0" algn="l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stage of the platform is independently operable, providing end-to-end visibility from infrastructure health through to recovery verification and performance metrics.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942163" y="5531545"/>
            <a:ext cx="690744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8021536" y="5571232"/>
            <a:ext cx="1141582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#DEVOPS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8698985" y="5531545"/>
            <a:ext cx="898304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8778358" y="5571232"/>
            <a:ext cx="1349143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#DEVSECOPS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9663367" y="5531545"/>
            <a:ext cx="954957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3"/>
          <p:cNvSpPr/>
          <p:nvPr/>
        </p:nvSpPr>
        <p:spPr>
          <a:xfrm>
            <a:off x="9742740" y="5571232"/>
            <a:ext cx="1405795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#GITLAB CI/CD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10684401" y="5531545"/>
            <a:ext cx="705924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10763774" y="5571232"/>
            <a:ext cx="1156762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#DOCKER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7942163" y="5798741"/>
            <a:ext cx="1354897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8021536" y="5838428"/>
            <a:ext cx="1805736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#DISASTERRECOVERY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9363138" y="5798741"/>
            <a:ext cx="1312929" cy="201116"/>
          </a:xfrm>
          <a:prstGeom prst="roundRect">
            <a:avLst>
              <a:gd name="adj" fmla="val 22105"/>
            </a:avLst>
          </a:prstGeom>
          <a:solidFill>
            <a:srgbClr val="FFE0C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9442511" y="5838428"/>
            <a:ext cx="1763768" cy="121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#CONTAINERISATION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802977"/>
            <a:ext cx="10868745" cy="494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9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Modules &amp; Technology Stack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334492"/>
            <a:ext cx="10868745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Functional Modules and Implementation Technologies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61475" y="1813223"/>
            <a:ext cx="5273047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Project Modules</a:t>
            </a:r>
            <a:endParaRPr lang="en-US" sz="14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64655"/>
            <a:ext cx="2590239" cy="118219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8978" y="2315964"/>
            <a:ext cx="2211431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🖥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Infrastructure Hub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88978" y="2655788"/>
            <a:ext cx="2211431" cy="292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 visibility — roles, IPs, CPU load, and live system status.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4283" y="2164655"/>
            <a:ext cx="2590239" cy="11821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71786" y="2315964"/>
            <a:ext cx="2211431" cy="494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🔀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GitLab Pipeline Monitoring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571786" y="2903041"/>
            <a:ext cx="2211431" cy="292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Pipeline ID, project, branch, status, and direct links.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3439418"/>
            <a:ext cx="2590239" cy="13284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88978" y="3590727"/>
            <a:ext cx="2211431" cy="494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💾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Data Backup Orchestration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888978" y="4177804"/>
            <a:ext cx="2211431" cy="438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 schedules, retention policy, volume snapshots, and status.</a:t>
            </a:r>
            <a:endParaRPr lang="en-US" sz="10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4283" y="3439418"/>
            <a:ext cx="2590239" cy="13284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571786" y="3590727"/>
            <a:ext cx="2211431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♻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Disaster Recovery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3571786" y="3930551"/>
            <a:ext cx="2211431" cy="438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Chaos/failover simulation, recovery workflow, and health monitoring.</a:t>
            </a:r>
            <a:endParaRPr lang="en-US" sz="10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860429"/>
            <a:ext cx="2590239" cy="13284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88978" y="5011738"/>
            <a:ext cx="2211431" cy="494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📊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RTO / RPO Monitoring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888978" y="5598815"/>
            <a:ext cx="2211431" cy="438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Real-time tracking of Recovery Time Objective and Recovery Point Objective.</a:t>
            </a:r>
            <a:endParaRPr lang="en-US" sz="10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44283" y="4860429"/>
            <a:ext cx="2590239" cy="13284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3571786" y="5011738"/>
            <a:ext cx="2211431" cy="494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📋</a:t>
            </a: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Activity &amp; Recovery Logs</a:t>
            </a:r>
            <a:endParaRPr lang="en-US" sz="1450" dirty="0"/>
          </a:p>
        </p:txBody>
      </p:sp>
      <p:sp>
        <p:nvSpPr>
          <p:cNvPr id="24" name="Text 16"/>
          <p:cNvSpPr/>
          <p:nvPr/>
        </p:nvSpPr>
        <p:spPr>
          <a:xfrm>
            <a:off x="3571786" y="5598815"/>
            <a:ext cx="2211431" cy="2924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recovery activity logs and event audit trail.</a:t>
            </a:r>
            <a:endParaRPr lang="en-US" sz="1000" dirty="0"/>
          </a:p>
        </p:txBody>
      </p:sp>
      <p:sp>
        <p:nvSpPr>
          <p:cNvPr id="25" name="Text 17"/>
          <p:cNvSpPr/>
          <p:nvPr/>
        </p:nvSpPr>
        <p:spPr>
          <a:xfrm>
            <a:off x="6263523" y="1813223"/>
            <a:ext cx="5273047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Technology Stack</a:t>
            </a:r>
            <a:endParaRPr lang="en-US" sz="1450" dirty="0"/>
          </a:p>
        </p:txBody>
      </p:sp>
      <p:sp>
        <p:nvSpPr>
          <p:cNvPr id="26" name="Shape 18"/>
          <p:cNvSpPr/>
          <p:nvPr/>
        </p:nvSpPr>
        <p:spPr>
          <a:xfrm>
            <a:off x="6263523" y="2164655"/>
            <a:ext cx="2590239" cy="775990"/>
          </a:xfrm>
          <a:prstGeom prst="roundRect">
            <a:avLst>
              <a:gd name="adj" fmla="val 7161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19"/>
          <p:cNvSpPr/>
          <p:nvPr/>
        </p:nvSpPr>
        <p:spPr>
          <a:xfrm>
            <a:off x="6408478" y="2309614"/>
            <a:ext cx="2300329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Frontend</a:t>
            </a:r>
            <a:endParaRPr lang="en-US" sz="1450" dirty="0"/>
          </a:p>
        </p:txBody>
      </p:sp>
      <p:sp>
        <p:nvSpPr>
          <p:cNvPr id="28" name="Text 20"/>
          <p:cNvSpPr/>
          <p:nvPr/>
        </p:nvSpPr>
        <p:spPr>
          <a:xfrm>
            <a:off x="6408478" y="2649438"/>
            <a:ext cx="2300329" cy="146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HTML5 · CSS3 · JavaScript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946331" y="2164655"/>
            <a:ext cx="2590239" cy="775990"/>
          </a:xfrm>
          <a:prstGeom prst="roundRect">
            <a:avLst>
              <a:gd name="adj" fmla="val 7161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2"/>
          <p:cNvSpPr/>
          <p:nvPr/>
        </p:nvSpPr>
        <p:spPr>
          <a:xfrm>
            <a:off x="9091286" y="2309614"/>
            <a:ext cx="2300329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Backend</a:t>
            </a:r>
            <a:endParaRPr lang="en-US" sz="1450" dirty="0"/>
          </a:p>
        </p:txBody>
      </p:sp>
      <p:sp>
        <p:nvSpPr>
          <p:cNvPr id="31" name="Text 23"/>
          <p:cNvSpPr/>
          <p:nvPr/>
        </p:nvSpPr>
        <p:spPr>
          <a:xfrm>
            <a:off x="9091286" y="2649438"/>
            <a:ext cx="2300329" cy="146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Node.js · Express.js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6263523" y="3033216"/>
            <a:ext cx="5273047" cy="775990"/>
          </a:xfrm>
          <a:prstGeom prst="roundRect">
            <a:avLst>
              <a:gd name="adj" fmla="val 7161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25"/>
          <p:cNvSpPr/>
          <p:nvPr/>
        </p:nvSpPr>
        <p:spPr>
          <a:xfrm>
            <a:off x="6408478" y="3178175"/>
            <a:ext cx="4983137" cy="247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45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DevOps / VCS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408478" y="3517999"/>
            <a:ext cx="4983137" cy="146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0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· GitLab · GitLab CI/CD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937022"/>
            <a:ext cx="10868745" cy="565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Key Learnings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61475" y="1550491"/>
            <a:ext cx="10868745" cy="282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Technical and Professional Skills Developed During the Internship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61475" y="2014438"/>
            <a:ext cx="3542219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25380" y="2178348"/>
            <a:ext cx="3214409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⚙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DevOps Workflows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5380" y="2539802"/>
            <a:ext cx="3214409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understanding of DevOps principles, tools, and end-to-end delivery pipelines.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4639" y="2014438"/>
            <a:ext cx="3542318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488544" y="2178348"/>
            <a:ext cx="3214508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🖥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Infrastructure Monitoring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88544" y="2539802"/>
            <a:ext cx="3214508" cy="3538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Monitoring node health, CPU load, system status, and infrastructure visibility.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87902" y="2014438"/>
            <a:ext cx="3542318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151807" y="2178348"/>
            <a:ext cx="3214508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🔀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GitLab &amp; CI/CD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51807" y="2539802"/>
            <a:ext cx="3214508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Repository management, branching strategies, commit workflows, CI/CD pipeline creation, and GitLab Runners.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475" y="3355380"/>
            <a:ext cx="3542219" cy="1502569"/>
          </a:xfrm>
          <a:prstGeom prst="roundRect">
            <a:avLst>
              <a:gd name="adj" fmla="val 4227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825380" y="3519289"/>
            <a:ext cx="3214409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♻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Disaster Recovery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5380" y="3880743"/>
            <a:ext cx="3214409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Chaos simulation, failover workflows, RTO/RPO concepts, and recovery monitoring.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24639" y="3355380"/>
            <a:ext cx="3542318" cy="1502569"/>
          </a:xfrm>
          <a:prstGeom prst="roundRect">
            <a:avLst>
              <a:gd name="adj" fmla="val 4227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488544" y="3519289"/>
            <a:ext cx="3214508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🔒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Application Security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488544" y="3880743"/>
            <a:ext cx="3214508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Conceptual understanding of Fortify, SonarQube, Checkmarx, and Veracode for secure software development.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987902" y="3355380"/>
            <a:ext cx="3542318" cy="1502569"/>
          </a:xfrm>
          <a:prstGeom prst="roundRect">
            <a:avLst>
              <a:gd name="adj" fmla="val 4227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8151807" y="3519289"/>
            <a:ext cx="321450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📋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Documentation &amp; Communication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51807" y="4163318"/>
            <a:ext cx="3214508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documentation, presentation preparation, and professional workplace communication.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61475" y="4978896"/>
            <a:ext cx="3542219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25380" y="5142805"/>
            <a:ext cx="3214409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🛡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DevSecOps Principles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25380" y="5504259"/>
            <a:ext cx="3214409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 of security into DevOps workflows — security scanning, dependency checks, and secret detection.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4639" y="4978896"/>
            <a:ext cx="3542318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488544" y="5142805"/>
            <a:ext cx="3214508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🧩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Problem-Solving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488544" y="5504259"/>
            <a:ext cx="3214508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Debugging pipeline configurations, resolving environment issues, and applying logical troubleshooting.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87902" y="4978896"/>
            <a:ext cx="3542318" cy="1219994"/>
          </a:xfrm>
          <a:prstGeom prst="roundRect">
            <a:avLst>
              <a:gd name="adj" fmla="val 5206"/>
            </a:avLst>
          </a:prstGeom>
          <a:solidFill>
            <a:srgbClr val="FFFFF4"/>
          </a:solidFill>
          <a:ln w="12700">
            <a:solidFill>
              <a:srgbClr val="FFE0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8151807" y="5142805"/>
            <a:ext cx="3214508" cy="288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🐳</a:t>
            </a:r>
            <a:r>
              <a:rPr lang="en-US" sz="17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 Docker &amp; Containers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151807" y="5504259"/>
            <a:ext cx="3214508" cy="530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7000"/>
              </a:lnSpc>
              <a:buNone/>
            </a:pPr>
            <a:r>
              <a:rPr lang="en-US" sz="115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basics, container images, containerisation concepts, and container-based deployment strategies.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61475" y="722610"/>
            <a:ext cx="10868745" cy="4017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4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Key Suggestions from Mentors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61475" y="1148755"/>
            <a:ext cx="10868745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Professional Guidance Received During the Internship Period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441351"/>
            <a:ext cx="10868745" cy="64502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164" y="1683147"/>
            <a:ext cx="161226" cy="16123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65295" y="1561505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Solve Real Industrial Problems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165295" y="179903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Focus on understanding practical industrial challenges and develop solutions that address genuine operational needs rather than academic exercises.</a:t>
            </a:r>
            <a:endParaRPr lang="en-US" sz="8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147491"/>
            <a:ext cx="10868745" cy="645021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2164" y="2389287"/>
            <a:ext cx="161226" cy="16123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65295" y="2267645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Understand Tools In Depth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1165295" y="250517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 beyond basic usage — understand how tools work internally, their configuration options, limitations, and best practices.</a:t>
            </a:r>
            <a:endParaRPr lang="en-US" sz="8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853630"/>
            <a:ext cx="10868745" cy="645021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2164" y="3095427"/>
            <a:ext cx="161226" cy="16123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165295" y="2973784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Follow Secure Development Practices</a:t>
            </a:r>
            <a:endParaRPr lang="en-US" sz="1200" dirty="0"/>
          </a:p>
        </p:txBody>
      </p:sp>
      <p:sp>
        <p:nvSpPr>
          <p:cNvPr id="17" name="Text 9"/>
          <p:cNvSpPr/>
          <p:nvPr/>
        </p:nvSpPr>
        <p:spPr>
          <a:xfrm>
            <a:off x="1165295" y="321131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Integrate security at every phase of development. Adopt DevSecOps principles and ensure code, dependencies, and secrets are managed securely.</a:t>
            </a:r>
            <a:endParaRPr lang="en-US" sz="8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559770"/>
            <a:ext cx="10868745" cy="645021"/>
          </a:xfrm>
          <a:prstGeom prst="rect">
            <a:avLst/>
          </a:prstGeom>
        </p:spPr>
      </p:pic>
      <p:pic>
        <p:nvPicPr>
          <p:cNvPr id="1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2164" y="3801566"/>
            <a:ext cx="161226" cy="16123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165295" y="3679924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Maintain Technical Documentation</a:t>
            </a:r>
            <a:endParaRPr lang="en-US" sz="1200" dirty="0"/>
          </a:p>
        </p:txBody>
      </p:sp>
      <p:sp>
        <p:nvSpPr>
          <p:cNvPr id="21" name="Text 11"/>
          <p:cNvSpPr/>
          <p:nvPr/>
        </p:nvSpPr>
        <p:spPr>
          <a:xfrm>
            <a:off x="1165295" y="391745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 every process, configuration, and decision. Good documentation enables collaboration and knowledge transfer.</a:t>
            </a:r>
            <a:endParaRPr lang="en-US" sz="80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265910"/>
            <a:ext cx="10868745" cy="645021"/>
          </a:xfrm>
          <a:prstGeom prst="rect">
            <a:avLst/>
          </a:prstGeom>
        </p:spPr>
      </p:pic>
      <p:pic>
        <p:nvPicPr>
          <p:cNvPr id="23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2164" y="4507706"/>
            <a:ext cx="161226" cy="161230"/>
          </a:xfrm>
          <a:prstGeom prst="rect">
            <a:avLst/>
          </a:prstGeom>
        </p:spPr>
      </p:pic>
      <p:sp>
        <p:nvSpPr>
          <p:cNvPr id="24" name="Text 12"/>
          <p:cNvSpPr/>
          <p:nvPr/>
        </p:nvSpPr>
        <p:spPr>
          <a:xfrm>
            <a:off x="1165295" y="4386064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Automate Repetitive Workflows</a:t>
            </a:r>
            <a:endParaRPr lang="en-US" sz="1200" dirty="0"/>
          </a:p>
        </p:txBody>
      </p:sp>
      <p:sp>
        <p:nvSpPr>
          <p:cNvPr id="25" name="Text 13"/>
          <p:cNvSpPr/>
          <p:nvPr/>
        </p:nvSpPr>
        <p:spPr>
          <a:xfrm>
            <a:off x="1165295" y="462359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Identify and automate manual, repetitive processes using CI/CD pipelines, scripts, and infrastructure-as-code approaches.</a:t>
            </a:r>
            <a:endParaRPr lang="en-US" sz="8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972050"/>
            <a:ext cx="10868745" cy="645021"/>
          </a:xfrm>
          <a:prstGeom prst="rect">
            <a:avLst/>
          </a:prstGeom>
        </p:spPr>
      </p:pic>
      <p:pic>
        <p:nvPicPr>
          <p:cNvPr id="27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164" y="5213846"/>
            <a:ext cx="161226" cy="16123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1165295" y="5092204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Build Scalable and Maintainable Solutions</a:t>
            </a:r>
            <a:endParaRPr lang="en-US" sz="1200" dirty="0"/>
          </a:p>
        </p:txBody>
      </p:sp>
      <p:sp>
        <p:nvSpPr>
          <p:cNvPr id="29" name="Text 15"/>
          <p:cNvSpPr/>
          <p:nvPr/>
        </p:nvSpPr>
        <p:spPr>
          <a:xfrm>
            <a:off x="1165295" y="5329734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platforms and systems with scalability and maintainability in mind so they can evolve without requiring complete rewrites.</a:t>
            </a:r>
            <a:endParaRPr lang="en-US" sz="800" dirty="0"/>
          </a:p>
        </p:txBody>
      </p:sp>
      <p:pic>
        <p:nvPicPr>
          <p:cNvPr id="30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5678190"/>
            <a:ext cx="10868745" cy="645021"/>
          </a:xfrm>
          <a:prstGeom prst="rect">
            <a:avLst/>
          </a:prstGeom>
        </p:spPr>
      </p:pic>
      <p:pic>
        <p:nvPicPr>
          <p:cNvPr id="31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2164" y="5919986"/>
            <a:ext cx="161226" cy="161230"/>
          </a:xfrm>
          <a:prstGeom prst="rect">
            <a:avLst/>
          </a:prstGeom>
        </p:spPr>
      </p:pic>
      <p:sp>
        <p:nvSpPr>
          <p:cNvPr id="32" name="Text 16"/>
          <p:cNvSpPr/>
          <p:nvPr/>
        </p:nvSpPr>
        <p:spPr>
          <a:xfrm>
            <a:off x="1165295" y="5798344"/>
            <a:ext cx="10244774" cy="200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dirty="0">
                <a:solidFill>
                  <a:srgbClr val="67534F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Continue Learning Modern Technologies</a:t>
            </a:r>
            <a:endParaRPr lang="en-US" sz="1200" dirty="0"/>
          </a:p>
        </p:txBody>
      </p:sp>
      <p:sp>
        <p:nvSpPr>
          <p:cNvPr id="33" name="Text 17"/>
          <p:cNvSpPr/>
          <p:nvPr/>
        </p:nvSpPr>
        <p:spPr>
          <a:xfrm>
            <a:off x="1165295" y="6035873"/>
            <a:ext cx="10244774" cy="109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800" dirty="0">
                <a:solidFill>
                  <a:srgbClr val="6753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Continuously develop skills in DevOps, DevSecOps, cloud infrastructure, container orchestration, and related modern technologies.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7735" y="613767"/>
            <a:ext cx="2478522" cy="163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00" dirty="0">
                <a:solidFill>
                  <a:srgbClr val="FF954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61475" y="896243"/>
            <a:ext cx="10868745" cy="662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dirty="0">
                <a:solidFill>
                  <a:srgbClr val="532418"/>
                </a:solidFill>
                <a:latin typeface="Marcellus" pitchFamily="34" charset="0"/>
                <a:ea typeface="Marcellus" pitchFamily="34" charset="-122"/>
                <a:cs typeface="Marcellus" pitchFamily="34" charset="-120"/>
              </a:rPr>
              <a:t>Conclusion</a:t>
            </a:r>
            <a:endParaRPr lang="en-US" sz="4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807666"/>
            <a:ext cx="3512157" cy="13857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3923" y="2003921"/>
            <a:ext cx="3043459" cy="1073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Gained hands-on experience in real-world DevOps and DevSecOps workflows.</a:t>
            </a:r>
            <a:endParaRPr lang="en-US" dirty="0">
              <a:latin typeface=" Marcellus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9720" y="1807666"/>
            <a:ext cx="3512157" cy="13857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12167" y="2003921"/>
            <a:ext cx="3043459" cy="1024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Learned GitLab, Docker, Jenkins, CI/CD, and application security tools.</a:t>
            </a:r>
            <a:endParaRPr lang="en-US" dirty="0">
              <a:latin typeface=" Marcellus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7964" y="1807666"/>
            <a:ext cx="3512157" cy="13857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290412" y="2003920"/>
            <a:ext cx="3043459" cy="1073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Developed the Enterprise DevSecOps Disaster Recovery &amp; Deployment Platform.</a:t>
            </a:r>
            <a:endParaRPr lang="en-US" dirty="0">
              <a:latin typeface=" Marcellus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3359547"/>
            <a:ext cx="3512157" cy="138578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33923" y="3499338"/>
            <a:ext cx="3043459" cy="1049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Improved debugging, troubleshooting, and analytical thinking through practical tasks.</a:t>
            </a:r>
            <a:endParaRPr lang="en-US" dirty="0">
              <a:latin typeface=" Marcellus"/>
            </a:endParaRPr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9720" y="3359547"/>
            <a:ext cx="3512157" cy="138578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612167" y="3499339"/>
            <a:ext cx="3043459" cy="1131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Enhanced teamwork, communication, presentation, and documentation skills.</a:t>
            </a:r>
            <a:endParaRPr lang="en-US" dirty="0">
              <a:latin typeface=" Marcellus"/>
            </a:endParaRPr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7964" y="3359547"/>
            <a:ext cx="3512157" cy="1385788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0412" y="3499339"/>
            <a:ext cx="3043459" cy="1131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>
              <a:lnSpc>
                <a:spcPct val="108000"/>
              </a:lnSpc>
            </a:pPr>
            <a:r>
              <a:rPr lang="en-IN" sz="2000" dirty="0">
                <a:latin typeface="Marcellus" panose="020B0604020202020204" charset="0"/>
              </a:rPr>
              <a:t>Understood secure software development and modern deployment practices.</a:t>
            </a:r>
            <a:endParaRPr lang="en-US" sz="2000" dirty="0">
              <a:latin typeface="Marcellus" panose="020B0604020202020204" charset="0"/>
            </a:endParaRPr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911427"/>
            <a:ext cx="3512157" cy="138578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33923" y="5046785"/>
            <a:ext cx="3043459" cy="1054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IN" dirty="0">
                <a:latin typeface=" Marcellus"/>
              </a:rPr>
              <a:t>Built confidence to work on real-world DevOps and cloud-based projects.</a:t>
            </a:r>
            <a:endParaRPr lang="en-US" dirty="0">
              <a:latin typeface=" Marcellus"/>
            </a:endParaRPr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9720" y="4911427"/>
            <a:ext cx="3512157" cy="1385788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4612167" y="5046786"/>
            <a:ext cx="3043459" cy="1054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pPr>
              <a:lnSpc>
                <a:spcPct val="108000"/>
              </a:lnSpc>
            </a:pPr>
            <a:r>
              <a:rPr lang="en-IN" sz="2000" dirty="0">
                <a:latin typeface="Marcellus" panose="020B0604020202020204" charset="0"/>
              </a:rPr>
              <a:t>This internship strengthened my technical foundation and prepared me for future industry challenges.</a:t>
            </a:r>
            <a:endParaRPr lang="en-US" sz="2000" dirty="0">
              <a:latin typeface="Marcellus" panose="020B06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1331</Words>
  <Application>Microsoft Office PowerPoint</Application>
  <PresentationFormat>Widescreen</PresentationFormat>
  <Paragraphs>201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Montserrat</vt:lpstr>
      <vt:lpstr>Montserrat Bold</vt:lpstr>
      <vt:lpstr>Marcellus</vt:lpstr>
      <vt:lpstr> Marcellus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mangesh lale</dc:creator>
  <cp:lastModifiedBy>mangesh lale</cp:lastModifiedBy>
  <cp:revision>15</cp:revision>
  <dcterms:created xsi:type="dcterms:W3CDTF">2026-07-22T15:55:30Z</dcterms:created>
  <dcterms:modified xsi:type="dcterms:W3CDTF">2026-08-03T16:40:04Z</dcterms:modified>
</cp:coreProperties>
</file>