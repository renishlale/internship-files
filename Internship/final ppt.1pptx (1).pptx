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Marcellus" panose="020B0604020202020204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old" panose="00000800000000000000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746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70558"/>
            <a:ext cx="2679931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1027212"/>
            <a:ext cx="30627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MIT WORLD PEACE UNIVERSITY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33302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Internship Progress Presentation</a:t>
            </a:r>
            <a:endParaRPr lang="en-US" sz="4250" dirty="0"/>
          </a:p>
        </p:txBody>
      </p:sp>
      <p:sp>
        <p:nvSpPr>
          <p:cNvPr id="5" name="Text 3"/>
          <p:cNvSpPr/>
          <p:nvPr/>
        </p:nvSpPr>
        <p:spPr>
          <a:xfrm>
            <a:off x="661475" y="2115344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DevOps Internship at Arixel Technologies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475" y="2752030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DevOps · DevSecOps · CI/CD · Docker · GitLab · Disaster Recovery · Security Scanning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3210322"/>
            <a:ext cx="10868745" cy="2218730"/>
          </a:xfrm>
          <a:prstGeom prst="roundRect">
            <a:avLst>
              <a:gd name="adj" fmla="val 3578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0524" y="3229372"/>
            <a:ext cx="5415323" cy="1090315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9531" y="3418384"/>
            <a:ext cx="503730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Student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69531" y="3885009"/>
            <a:ext cx="503730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Renish Lale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95848" y="3229372"/>
            <a:ext cx="5415323" cy="1090315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6095848" y="3229372"/>
            <a:ext cx="25399" cy="1090315"/>
          </a:xfrm>
          <a:prstGeom prst="roundRect">
            <a:avLst>
              <a:gd name="adj" fmla="val 312562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84854" y="3418384"/>
            <a:ext cx="503730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</a:rPr>
              <a:t>Industrial Mentor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284854" y="3885009"/>
            <a:ext cx="503730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latin typeface="Montserrat" panose="00000500000000000000" pitchFamily="2" charset="0"/>
              </a:rPr>
              <a:t>Mr. Vinay Sabnis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latin typeface="Montserrat" panose="00000500000000000000" pitchFamily="2" charset="0"/>
              </a:rPr>
              <a:t>Contact : 7744035488</a:t>
            </a:r>
          </a:p>
        </p:txBody>
      </p:sp>
      <p:sp>
        <p:nvSpPr>
          <p:cNvPr id="15" name="Shape 13"/>
          <p:cNvSpPr/>
          <p:nvPr/>
        </p:nvSpPr>
        <p:spPr>
          <a:xfrm>
            <a:off x="680524" y="4457897"/>
            <a:ext cx="5415323" cy="1090315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671000" y="4477269"/>
            <a:ext cx="5415323" cy="25400"/>
          </a:xfrm>
          <a:prstGeom prst="roundRect">
            <a:avLst>
              <a:gd name="adj" fmla="val 312550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9531" y="4508698"/>
            <a:ext cx="503730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Faculty Mentor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69531" y="4975324"/>
            <a:ext cx="503730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Prof. Yogesh Gaikwad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095848" y="4445839"/>
            <a:ext cx="5415323" cy="1090315"/>
          </a:xfrm>
          <a:prstGeom prst="rect">
            <a:avLst/>
          </a:prstGeom>
          <a:solidFill>
            <a:srgbClr val="FFFF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095848" y="4471308"/>
            <a:ext cx="5415323" cy="25400"/>
          </a:xfrm>
          <a:prstGeom prst="roundRect">
            <a:avLst>
              <a:gd name="adj" fmla="val 312550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84854" y="4508698"/>
            <a:ext cx="5037309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Company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284854" y="4975324"/>
            <a:ext cx="5037309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Arixel Technologies</a:t>
            </a:r>
            <a:endParaRPr lang="en-US" sz="1450" dirty="0"/>
          </a:p>
        </p:txBody>
      </p:sp>
      <p:pic>
        <p:nvPicPr>
          <p:cNvPr id="24" name="Picture 23" descr="MIT World Peace University - YouTube">
            <a:extLst>
              <a:ext uri="{FF2B5EF4-FFF2-40B4-BE49-F238E27FC236}">
                <a16:creationId xmlns:a16="http://schemas.microsoft.com/office/drawing/2014/main" id="{9F16DB0B-AE13-78AF-E45E-BB1E55CF0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303" y="85000"/>
            <a:ext cx="1259074" cy="1259074"/>
          </a:xfrm>
          <a:prstGeom prst="rect">
            <a:avLst/>
          </a:prstGeom>
        </p:spPr>
      </p:pic>
      <p:sp>
        <p:nvSpPr>
          <p:cNvPr id="26" name="Shape 14">
            <a:extLst>
              <a:ext uri="{FF2B5EF4-FFF2-40B4-BE49-F238E27FC236}">
                <a16:creationId xmlns:a16="http://schemas.microsoft.com/office/drawing/2014/main" id="{0ECA9713-5232-3C7F-DADC-5EDA6E2450FC}"/>
              </a:ext>
            </a:extLst>
          </p:cNvPr>
          <p:cNvSpPr/>
          <p:nvPr/>
        </p:nvSpPr>
        <p:spPr>
          <a:xfrm>
            <a:off x="690048" y="5372222"/>
            <a:ext cx="5415323" cy="25400"/>
          </a:xfrm>
          <a:prstGeom prst="roundRect">
            <a:avLst>
              <a:gd name="adj" fmla="val 312550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B10801B9-286F-2D1C-CCDB-3618EFF51718}"/>
              </a:ext>
            </a:extLst>
          </p:cNvPr>
          <p:cNvSpPr/>
          <p:nvPr/>
        </p:nvSpPr>
        <p:spPr>
          <a:xfrm>
            <a:off x="6095848" y="5370941"/>
            <a:ext cx="5415323" cy="25400"/>
          </a:xfrm>
          <a:prstGeom prst="roundRect">
            <a:avLst>
              <a:gd name="adj" fmla="val 312550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1E06185B-F85E-D3E5-2A1D-1012233540BC}"/>
              </a:ext>
            </a:extLst>
          </p:cNvPr>
          <p:cNvSpPr/>
          <p:nvPr/>
        </p:nvSpPr>
        <p:spPr>
          <a:xfrm>
            <a:off x="6095848" y="4281907"/>
            <a:ext cx="25399" cy="1090315"/>
          </a:xfrm>
          <a:prstGeom prst="roundRect">
            <a:avLst>
              <a:gd name="adj" fmla="val 312562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9697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Table of Contents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1834158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139454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61475" y="2284710"/>
            <a:ext cx="3496877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Objectives of the Internship Program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347359" y="1834158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02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7359" y="2139454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47359" y="2284710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Company Introduction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033244" y="1834158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03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33244" y="2139454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33244" y="2284710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Our Role in the Company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61475" y="3321844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3627140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1475" y="3772396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Internship Action Plan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347359" y="3321844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05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47359" y="3627140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47359" y="3772396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Overview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033244" y="3321844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06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33244" y="3627140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033244" y="3772396"/>
            <a:ext cx="3496877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Modules &amp; Technology Stack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1475" y="480953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07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475" y="5114826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61475" y="5260082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Learnings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347359" y="480953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08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347359" y="5114826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347359" y="5260082"/>
            <a:ext cx="3496877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Suggestions from Mentors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8033244" y="4809530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09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033244" y="5114826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33244" y="5260082"/>
            <a:ext cx="3496877" cy="706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Action Plan for Remaining Period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2967"/>
            <a:ext cx="1229488" cy="226219"/>
          </a:xfrm>
          <a:prstGeom prst="roundRect">
            <a:avLst>
              <a:gd name="adj" fmla="val 22109"/>
            </a:avLst>
          </a:prstGeom>
          <a:noFill/>
          <a:ln w="12700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0769" y="607616"/>
            <a:ext cx="1660483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— OBJECTIVES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36017"/>
            <a:ext cx="10868745" cy="55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Objectives of the Internship Program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661475" y="1439069"/>
            <a:ext cx="10868745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Defining Goals for a Productive Industry Experience</a:t>
            </a:r>
            <a:endParaRPr lang="en-US" sz="1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93094"/>
            <a:ext cx="297649" cy="297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2337197"/>
            <a:ext cx="3525253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Practical DevOps Experience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61475" y="2685653"/>
            <a:ext cx="3525253" cy="518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Gain hands-on exposure to DevOps and DevSecOps workflows used in real industry environments.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3171" y="1893094"/>
            <a:ext cx="297649" cy="2976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3171" y="2337197"/>
            <a:ext cx="3525253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Containerisation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4333171" y="2685653"/>
            <a:ext cx="3525253" cy="34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Docker, container images, and container-based deployment methodologies.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4868" y="1893094"/>
            <a:ext cx="297649" cy="2976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04868" y="2337197"/>
            <a:ext cx="3525253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Management Workflows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004868" y="2685653"/>
            <a:ext cx="3525253" cy="518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 software development lifecycle management using GitLab, Jira, and Zoho Projects.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38525"/>
            <a:ext cx="297649" cy="2976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1475" y="3882628"/>
            <a:ext cx="3525253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Professional Skills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61475" y="4231084"/>
            <a:ext cx="3525253" cy="518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 problem-solving, teamwork, technical communication, and documentation capabilities.</a:t>
            </a:r>
            <a:endParaRPr lang="en-US" sz="11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33171" y="3438525"/>
            <a:ext cx="297649" cy="2976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33171" y="3882628"/>
            <a:ext cx="3525253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CI/CD Automation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4333171" y="4231084"/>
            <a:ext cx="3525253" cy="34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GitLab CI/CD pipeline creation, configuration, and troubleshooting.</a:t>
            </a:r>
            <a:endParaRPr lang="en-US" sz="11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04868" y="3438525"/>
            <a:ext cx="297649" cy="2976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004868" y="3882628"/>
            <a:ext cx="3525253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Applied Industry Project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8004868" y="4231084"/>
            <a:ext cx="3525253" cy="345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Apply theoretical knowledge to build an industry-oriented DevSecOps platform.</a:t>
            </a:r>
            <a:endParaRPr lang="en-US" sz="11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983956"/>
            <a:ext cx="297649" cy="2976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61475" y="5428059"/>
            <a:ext cx="3525253" cy="278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Application Security</a:t>
            </a:r>
            <a:endParaRPr lang="en-US" sz="1650" dirty="0"/>
          </a:p>
        </p:txBody>
      </p:sp>
      <p:sp>
        <p:nvSpPr>
          <p:cNvPr id="26" name="Text 17"/>
          <p:cNvSpPr/>
          <p:nvPr/>
        </p:nvSpPr>
        <p:spPr>
          <a:xfrm>
            <a:off x="661475" y="5776516"/>
            <a:ext cx="3525253" cy="518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 security integration through tools such as SonarQube, Fortify, Checkmarx, and Veracode.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78979"/>
            <a:ext cx="2029667" cy="215305"/>
          </a:xfrm>
          <a:prstGeom prst="roundRect">
            <a:avLst>
              <a:gd name="adj" fmla="val 22123"/>
            </a:avLst>
          </a:prstGeom>
          <a:noFill/>
          <a:ln w="12700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46503" y="921445"/>
            <a:ext cx="246919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— COMPANY 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136749"/>
            <a:ext cx="10868745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Company Introduction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709043"/>
            <a:ext cx="1086874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Arixel Technologies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133402"/>
            <a:ext cx="10868745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Arixel Technologies is a technology organisation focused on delivering modern software and IT solutions. The company works with technologies spanning software development, DevOps practices, and cloud-based services.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2615307"/>
            <a:ext cx="1086874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Focus Areas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3039666"/>
            <a:ext cx="10868745" cy="95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Development &amp; IT Solutions</a:t>
            </a:r>
            <a:endParaRPr lang="en-US" sz="1100" dirty="0"/>
          </a:p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 &amp; DevSecOps Engineering</a:t>
            </a:r>
            <a:endParaRPr lang="en-US" sz="1100" dirty="0"/>
          </a:p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Infrastructure &amp; Automation</a:t>
            </a:r>
            <a:endParaRPr lang="en-US" sz="1100" dirty="0"/>
          </a:p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Security &amp; Compliance</a:t>
            </a:r>
            <a:endParaRPr lang="en-US" sz="1100" dirty="0"/>
          </a:p>
          <a:p>
            <a:pPr marL="223520" indent="-223520" algn="l">
              <a:lnSpc>
                <a:spcPct val="95000"/>
              </a:lnSpc>
              <a:buSzPct val="100000"/>
              <a:buChar char="•"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Containerisation &amp; Deployment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1475" y="4114205"/>
            <a:ext cx="2637466" cy="959842"/>
          </a:xfrm>
          <a:prstGeom prst="roundRect">
            <a:avLst>
              <a:gd name="adj" fmla="val 620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15855" y="4268589"/>
            <a:ext cx="232870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🌐</a:t>
            </a: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Domain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5855" y="4597202"/>
            <a:ext cx="2328705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&amp; Technology Services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05202" y="4114205"/>
            <a:ext cx="2637466" cy="959842"/>
          </a:xfrm>
          <a:prstGeom prst="roundRect">
            <a:avLst>
              <a:gd name="adj" fmla="val 620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559582" y="4268589"/>
            <a:ext cx="232870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💼</a:t>
            </a: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Nature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59582" y="4597202"/>
            <a:ext cx="2328705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Solutions &amp; Engineering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8928" y="4114205"/>
            <a:ext cx="2637466" cy="959842"/>
          </a:xfrm>
          <a:prstGeom prst="roundRect">
            <a:avLst>
              <a:gd name="adj" fmla="val 620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03309" y="4268589"/>
            <a:ext cx="2328705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🔧</a:t>
            </a: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Speciality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3309" y="4597202"/>
            <a:ext cx="2328705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DevOps, DevSecOps, Cloud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892655" y="4114205"/>
            <a:ext cx="2637565" cy="959842"/>
          </a:xfrm>
          <a:prstGeom prst="roundRect">
            <a:avLst>
              <a:gd name="adj" fmla="val 620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047035" y="4268589"/>
            <a:ext cx="23288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🏢</a:t>
            </a: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Internship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47035" y="4597202"/>
            <a:ext cx="2328804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Industry-Oriented Project Exposure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1475" y="5180310"/>
            <a:ext cx="10868745" cy="798612"/>
          </a:xfrm>
          <a:prstGeom prst="roundRect">
            <a:avLst>
              <a:gd name="adj" fmla="val 7456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15855" y="5334695"/>
            <a:ext cx="1055998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📍</a:t>
            </a: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Engagement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5855" y="5663307"/>
            <a:ext cx="10559984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Professional Technical Internship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8401"/>
            <a:ext cx="1243180" cy="243979"/>
          </a:xfrm>
          <a:prstGeom prst="roundRect">
            <a:avLst>
              <a:gd name="adj" fmla="val 22126"/>
            </a:avLst>
          </a:prstGeom>
          <a:noFill/>
          <a:ln w="12700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7814" y="746522"/>
            <a:ext cx="1660087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— OUR ROLE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96950"/>
            <a:ext cx="10868745" cy="60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Our Role in the Company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1475" y="1651992"/>
            <a:ext cx="10868745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Position: DevOps Intern | Arixel Technologies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57016"/>
            <a:ext cx="5366112" cy="1127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7354" y="2336701"/>
            <a:ext cx="4930552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⚙</a:t>
            </a:r>
            <a:r>
              <a:rPr lang="en-US" sz="18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DevOps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7354" y="2718792"/>
            <a:ext cx="4930552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Learned Jenkins, GitLab, Zoho Projects, and Jira for managing development workflows.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2157016"/>
            <a:ext cx="5366112" cy="1127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19987" y="2336701"/>
            <a:ext cx="4930552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🛡</a:t>
            </a:r>
            <a:r>
              <a:rPr lang="en-US" sz="18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DevSecOps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419987" y="2718792"/>
            <a:ext cx="4930552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Understood DevSecOps principles and how security integrates into software delivery pipelines.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21162"/>
            <a:ext cx="5366112" cy="11276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7354" y="3600847"/>
            <a:ext cx="4930552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🔀</a:t>
            </a:r>
            <a:r>
              <a:rPr lang="en-US" sz="18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GitLab &amp; CI/CD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17354" y="3982938"/>
            <a:ext cx="4930552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Explored GitLab repositories, branches, commits, pipelines, runners, and CI/CD automation.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3421162"/>
            <a:ext cx="5366112" cy="11276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19987" y="3600847"/>
            <a:ext cx="4930552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🐳</a:t>
            </a:r>
            <a:r>
              <a:rPr lang="en-US" sz="18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Docker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419987" y="3982938"/>
            <a:ext cx="4930552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Learned Docker, container images, containerisation, and container-based deployment.</a:t>
            </a:r>
            <a:endParaRPr lang="en-US" sz="12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685308"/>
            <a:ext cx="5366112" cy="11276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17354" y="4864993"/>
            <a:ext cx="4930552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🔒</a:t>
            </a:r>
            <a:r>
              <a:rPr lang="en-US" sz="18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Application Security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917354" y="5247084"/>
            <a:ext cx="4930552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Studied Fortify, SonarQube, Checkmarx, and Veracode for application security scanning.</a:t>
            </a:r>
            <a:endParaRPr lang="en-US" sz="12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4685308"/>
            <a:ext cx="5366112" cy="112762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19987" y="4864993"/>
            <a:ext cx="4930552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🏗</a:t>
            </a:r>
            <a:r>
              <a:rPr lang="en-US" sz="18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Project Work</a:t>
            </a:r>
            <a:endParaRPr lang="en-US" sz="1800" dirty="0"/>
          </a:p>
        </p:txBody>
      </p:sp>
      <p:sp>
        <p:nvSpPr>
          <p:cNvPr id="23" name="Text 15"/>
          <p:cNvSpPr/>
          <p:nvPr/>
        </p:nvSpPr>
        <p:spPr>
          <a:xfrm>
            <a:off x="6419987" y="5247084"/>
            <a:ext cx="4930552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an Enterprise DevSecOps Disaster Recovery &amp; Deployment Platform as the internship project.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3995"/>
            <a:ext cx="959620" cy="160338"/>
          </a:xfrm>
          <a:prstGeom prst="roundRect">
            <a:avLst>
              <a:gd name="adj" fmla="val 22126"/>
            </a:avLst>
          </a:prstGeom>
          <a:noFill/>
          <a:ln w="6350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24775" y="565646"/>
            <a:ext cx="144260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— ACTION PLAN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17848"/>
            <a:ext cx="10868745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Internship Action Plan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661475" y="1136055"/>
            <a:ext cx="10868745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Weekly Learning Milestones | June 2026 – July 2026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76158" y="717848"/>
            <a:ext cx="12700" cy="4902200"/>
          </a:xfrm>
          <a:prstGeom prst="roundRect">
            <a:avLst>
              <a:gd name="adj" fmla="val 34917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673087" y="1534220"/>
            <a:ext cx="316698" cy="12700"/>
          </a:xfrm>
          <a:prstGeom prst="roundRect">
            <a:avLst>
              <a:gd name="adj" fmla="val 34917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77086" y="1421805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04817" y="1422202"/>
            <a:ext cx="182062" cy="236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475" y="1454745"/>
            <a:ext cx="490654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Week 1 | 2nd – 7th June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1475" y="1687413"/>
            <a:ext cx="4906542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Introduced to project management tools such as Jenkins, GitLab, Zoho Projects, and Jira, and learned their basic features and uses.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01910" y="2074366"/>
            <a:ext cx="316698" cy="12700"/>
          </a:xfrm>
          <a:prstGeom prst="roundRect">
            <a:avLst>
              <a:gd name="adj" fmla="val 34917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77086" y="1961952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04817" y="1962348"/>
            <a:ext cx="182062" cy="236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3678" y="1994892"/>
            <a:ext cx="490654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Week 2 | 8th – 14th June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23678" y="2227560"/>
            <a:ext cx="4906542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and delivered presentations explaining various project management tools to improve understanding and communication.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73087" y="2572048"/>
            <a:ext cx="316698" cy="12700"/>
          </a:xfrm>
          <a:prstGeom prst="roundRect">
            <a:avLst>
              <a:gd name="adj" fmla="val 34917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77086" y="2459633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04817" y="2460030"/>
            <a:ext cx="182062" cy="236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1475" y="2492573"/>
            <a:ext cx="490654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Week 3 | 15th – 21st June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1475" y="2725241"/>
            <a:ext cx="4906542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Studied application security tools and gained an understanding of their role in software security.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01910" y="3069828"/>
            <a:ext cx="316698" cy="12700"/>
          </a:xfrm>
          <a:prstGeom prst="roundRect">
            <a:avLst>
              <a:gd name="adj" fmla="val 34917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977086" y="2957413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004817" y="2957810"/>
            <a:ext cx="182062" cy="236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3678" y="2990354"/>
            <a:ext cx="490654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Week 4 | 22nd – 28th June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3678" y="3223022"/>
            <a:ext cx="4906542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presentations and explored application security concepts through practical discussions.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73087" y="3567609"/>
            <a:ext cx="316698" cy="12700"/>
          </a:xfrm>
          <a:prstGeom prst="roundRect">
            <a:avLst>
              <a:gd name="adj" fmla="val 34917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977086" y="3455194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004817" y="3455591"/>
            <a:ext cx="182062" cy="236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1475" y="3488134"/>
            <a:ext cx="490654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Week 5 | 29th June – 5th July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61475" y="3720802"/>
            <a:ext cx="4906542" cy="213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Learned the fundamentals of DevSecOps and its importance in secure software development.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01910" y="4065389"/>
            <a:ext cx="316698" cy="12700"/>
          </a:xfrm>
          <a:prstGeom prst="roundRect">
            <a:avLst>
              <a:gd name="adj" fmla="val 34917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977086" y="3952974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004817" y="3953371"/>
            <a:ext cx="182062" cy="236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23678" y="3985915"/>
            <a:ext cx="490654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Week 6 | 6th – 12th July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623678" y="4218583"/>
            <a:ext cx="4906542" cy="10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Followed the GitLab learning roadmap. Learned GitLab basics and CI/CD concepts.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673087" y="4563170"/>
            <a:ext cx="316698" cy="12700"/>
          </a:xfrm>
          <a:prstGeom prst="roundRect">
            <a:avLst>
              <a:gd name="adj" fmla="val 34917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977086" y="4450755"/>
            <a:ext cx="237524" cy="237530"/>
          </a:xfrm>
          <a:prstGeom prst="roundRect">
            <a:avLst>
              <a:gd name="adj" fmla="val 18670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004817" y="4451152"/>
            <a:ext cx="182062" cy="236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1475" y="4483695"/>
            <a:ext cx="490654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Week 7 | 13th – 17th July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61475" y="4716363"/>
            <a:ext cx="4906542" cy="10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Successfully created GitLab projects and initiated CI/CD pipelines.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23678" y="4981476"/>
            <a:ext cx="4906542" cy="197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623678" y="5214144"/>
            <a:ext cx="4906542" cy="10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04817" y="5446713"/>
            <a:ext cx="182062" cy="2367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61475" y="5711924"/>
            <a:ext cx="4906542" cy="106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3864"/>
            <a:ext cx="1571090" cy="201116"/>
          </a:xfrm>
          <a:prstGeom prst="roundRect">
            <a:avLst>
              <a:gd name="adj" fmla="val 22105"/>
            </a:avLst>
          </a:prstGeom>
          <a:noFill/>
          <a:ln w="12700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40848" y="793552"/>
            <a:ext cx="202192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— PROJECT 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991989"/>
            <a:ext cx="10868745" cy="494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Overview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23504"/>
            <a:ext cx="10868745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Enterprise DevSecOps Disaster Recovery &amp; Deployment Platform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238" y="2683173"/>
            <a:ext cx="4866161" cy="26472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42163" y="2002234"/>
            <a:ext cx="3594308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⚠</a:t>
            </a: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Problem Statement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42163" y="2342059"/>
            <a:ext cx="3594308" cy="584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Organizations require a reliable, centralized method to monitor infrastructure health, manage backups, track CI/CD deployments, and respond rapidly to system failures — all within a unified operational view.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42163" y="3019623"/>
            <a:ext cx="3594308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✅</a:t>
            </a: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Our Solution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42163" y="3359448"/>
            <a:ext cx="3594308" cy="2067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web-based platform providing a centralized dashboard for infrastructure monitoring, GitLab CI/CD pipeline tracking, automated backup management, and disaster recovery workflows — enabling faster response and recovery.</a:t>
            </a:r>
            <a:endParaRPr lang="en-US" sz="1000" dirty="0"/>
          </a:p>
          <a:p>
            <a:pPr marL="0" indent="0" algn="l">
              <a:lnSpc>
                <a:spcPct val="92000"/>
              </a:lnSpc>
              <a:spcAft>
                <a:spcPts val="650"/>
              </a:spcAft>
              <a:buNone/>
            </a:pPr>
            <a:r>
              <a:rPr lang="en-US" sz="10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Platform Workflow: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Infrastructure Monitoring → CI/CD Pipeline Tracking → Backup Management → Failover Simulation → Recovery Monitoring → RTO / RPO Analysis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stage of the platform is independently operable, providing end-to-end visibility from infrastructure health through to recovery verification and performance metrics.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42163" y="5531545"/>
            <a:ext cx="690744" cy="201116"/>
          </a:xfrm>
          <a:prstGeom prst="roundRect">
            <a:avLst>
              <a:gd name="adj" fmla="val 22105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021536" y="5571232"/>
            <a:ext cx="1141582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#DEVOPS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698985" y="5531545"/>
            <a:ext cx="898304" cy="201116"/>
          </a:xfrm>
          <a:prstGeom prst="roundRect">
            <a:avLst>
              <a:gd name="adj" fmla="val 22105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778358" y="5571232"/>
            <a:ext cx="1349143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#DEVSECOPS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9663367" y="5531545"/>
            <a:ext cx="954957" cy="201116"/>
          </a:xfrm>
          <a:prstGeom prst="roundRect">
            <a:avLst>
              <a:gd name="adj" fmla="val 22105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9742740" y="5571232"/>
            <a:ext cx="1405795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#GITLAB CI/CD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0684401" y="5531545"/>
            <a:ext cx="705924" cy="201116"/>
          </a:xfrm>
          <a:prstGeom prst="roundRect">
            <a:avLst>
              <a:gd name="adj" fmla="val 22105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0763774" y="5571232"/>
            <a:ext cx="1156762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#DOCKER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942163" y="5798741"/>
            <a:ext cx="1354897" cy="201116"/>
          </a:xfrm>
          <a:prstGeom prst="roundRect">
            <a:avLst>
              <a:gd name="adj" fmla="val 22105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021536" y="5838428"/>
            <a:ext cx="1805736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#DISASTERRECOVERY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9363138" y="5798741"/>
            <a:ext cx="1312929" cy="201116"/>
          </a:xfrm>
          <a:prstGeom prst="roundRect">
            <a:avLst>
              <a:gd name="adj" fmla="val 22105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9442511" y="5838428"/>
            <a:ext cx="1763768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#CONTAINERISATION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4852"/>
            <a:ext cx="1593512" cy="201116"/>
          </a:xfrm>
          <a:prstGeom prst="roundRect">
            <a:avLst>
              <a:gd name="adj" fmla="val 22105"/>
            </a:avLst>
          </a:prstGeom>
          <a:noFill/>
          <a:ln w="12700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40848" y="604540"/>
            <a:ext cx="204435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— TECHNOLOGY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802977"/>
            <a:ext cx="10868745" cy="494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Modules &amp; Technology Stack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334492"/>
            <a:ext cx="10868745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Functional Modules and Implementation Technologies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1813223"/>
            <a:ext cx="5273047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Project Modules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64655"/>
            <a:ext cx="2590239" cy="11821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8978" y="2315964"/>
            <a:ext cx="2211431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🖥</a:t>
            </a: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Infrastructure Hub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88978" y="2655788"/>
            <a:ext cx="2211431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 visibility — roles, IPs, CPU load, and live system status.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4283" y="2164655"/>
            <a:ext cx="2590239" cy="11821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71786" y="2315964"/>
            <a:ext cx="2211431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🔀</a:t>
            </a: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GitLab Pipeline Monitoring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571786" y="2903041"/>
            <a:ext cx="2211431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ID, project, branch, status, and direct links.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39418"/>
            <a:ext cx="2590239" cy="13284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8978" y="3590727"/>
            <a:ext cx="2211431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💾</a:t>
            </a: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Data Backup Orchestration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888978" y="4177804"/>
            <a:ext cx="2211431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Backup schedules, retention policy, volume snapshots, and status.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4283" y="3439418"/>
            <a:ext cx="2590239" cy="13284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71786" y="3590727"/>
            <a:ext cx="2211431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♻</a:t>
            </a: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Disaster Recovery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3571786" y="3930551"/>
            <a:ext cx="2211431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Chaos/failover simulation, recovery workflow, and health monitoring.</a:t>
            </a:r>
            <a:endParaRPr lang="en-US" sz="10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60429"/>
            <a:ext cx="2590239" cy="13284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88978" y="5011738"/>
            <a:ext cx="2211431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📊</a:t>
            </a: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RTO / RPO Monitoring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88978" y="5598815"/>
            <a:ext cx="2211431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tracking of Recovery Time Objective and Recovery Point Objective.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4283" y="4860429"/>
            <a:ext cx="2590239" cy="13284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571786" y="5011738"/>
            <a:ext cx="2211431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📋</a:t>
            </a: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Activity &amp; Recovery Logs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3571786" y="5598815"/>
            <a:ext cx="2211431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Detailed recovery activity logs and event audit trail.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6263523" y="1813223"/>
            <a:ext cx="5273047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6263523" y="2164655"/>
            <a:ext cx="2590239" cy="775990"/>
          </a:xfrm>
          <a:prstGeom prst="roundRect">
            <a:avLst>
              <a:gd name="adj" fmla="val 7161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/>
          <p:nvPr/>
        </p:nvSpPr>
        <p:spPr>
          <a:xfrm>
            <a:off x="6408478" y="2309614"/>
            <a:ext cx="2300329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Frontend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6408478" y="2649438"/>
            <a:ext cx="2300329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HTML5 · CSS3 · JavaScript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8946331" y="2164655"/>
            <a:ext cx="2590239" cy="775990"/>
          </a:xfrm>
          <a:prstGeom prst="roundRect">
            <a:avLst>
              <a:gd name="adj" fmla="val 7161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2"/>
          <p:cNvSpPr/>
          <p:nvPr/>
        </p:nvSpPr>
        <p:spPr>
          <a:xfrm>
            <a:off x="9091286" y="2309614"/>
            <a:ext cx="2300329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Backend</a:t>
            </a:r>
            <a:endParaRPr lang="en-US" sz="1450" dirty="0"/>
          </a:p>
        </p:txBody>
      </p:sp>
      <p:sp>
        <p:nvSpPr>
          <p:cNvPr id="31" name="Text 23"/>
          <p:cNvSpPr/>
          <p:nvPr/>
        </p:nvSpPr>
        <p:spPr>
          <a:xfrm>
            <a:off x="9091286" y="2649438"/>
            <a:ext cx="2300329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Node.js · Express.js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263523" y="3033216"/>
            <a:ext cx="5273047" cy="775990"/>
          </a:xfrm>
          <a:prstGeom prst="roundRect">
            <a:avLst>
              <a:gd name="adj" fmla="val 7161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5"/>
          <p:cNvSpPr/>
          <p:nvPr/>
        </p:nvSpPr>
        <p:spPr>
          <a:xfrm>
            <a:off x="6408478" y="3178175"/>
            <a:ext cx="4983137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DevOps / VCS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6408478" y="3517999"/>
            <a:ext cx="4983137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· GitLab · GitLab CI/CD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9011"/>
            <a:ext cx="1517711" cy="229691"/>
          </a:xfrm>
          <a:prstGeom prst="roundRect">
            <a:avLst>
              <a:gd name="adj" fmla="val 22120"/>
            </a:avLst>
          </a:prstGeom>
          <a:noFill/>
          <a:ln w="12700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52159" y="704354"/>
            <a:ext cx="194592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— KEY LEARNINGS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37022"/>
            <a:ext cx="10868745" cy="56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Learnings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550491"/>
            <a:ext cx="10868745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Technical and Professional Skills Developed During the Internship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1475" y="2014438"/>
            <a:ext cx="3542219" cy="1219994"/>
          </a:xfrm>
          <a:prstGeom prst="roundRect">
            <a:avLst>
              <a:gd name="adj" fmla="val 5206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5380" y="2178348"/>
            <a:ext cx="3214409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⚙</a:t>
            </a: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DevOps Workflows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5380" y="2539802"/>
            <a:ext cx="3214409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understanding of DevOps principles, tools, and end-to-end delivery pipelines.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4639" y="2014438"/>
            <a:ext cx="3542318" cy="1219994"/>
          </a:xfrm>
          <a:prstGeom prst="roundRect">
            <a:avLst>
              <a:gd name="adj" fmla="val 5206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88544" y="2178348"/>
            <a:ext cx="321450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🖥</a:t>
            </a: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Infrastructure Monitoring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8544" y="2539802"/>
            <a:ext cx="3214508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 node health, CPU load, system status, and infrastructure visibility.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87902" y="2014438"/>
            <a:ext cx="3542318" cy="1219994"/>
          </a:xfrm>
          <a:prstGeom prst="roundRect">
            <a:avLst>
              <a:gd name="adj" fmla="val 5206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51807" y="2178348"/>
            <a:ext cx="321450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🔀</a:t>
            </a: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GitLab &amp; CI/CD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51807" y="2539802"/>
            <a:ext cx="3214508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Repository management, branching strategies, commit workflows, CI/CD pipeline creation, and GitLab Runners.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1475" y="3355380"/>
            <a:ext cx="3542219" cy="1502569"/>
          </a:xfrm>
          <a:prstGeom prst="roundRect">
            <a:avLst>
              <a:gd name="adj" fmla="val 4227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5380" y="3519289"/>
            <a:ext cx="3214409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♻</a:t>
            </a: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Disaster Recovery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5380" y="3880743"/>
            <a:ext cx="3214409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Chaos simulation, failover workflows, RTO/RPO concepts, and recovery monitoring.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24639" y="3355380"/>
            <a:ext cx="3542318" cy="1502569"/>
          </a:xfrm>
          <a:prstGeom prst="roundRect">
            <a:avLst>
              <a:gd name="adj" fmla="val 4227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488544" y="3519289"/>
            <a:ext cx="321450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🔒</a:t>
            </a: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Application Security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488544" y="3880743"/>
            <a:ext cx="3214508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Conceptual understanding of Fortify, SonarQube, Checkmarx, and Veracode for secure software development.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87902" y="3355380"/>
            <a:ext cx="3542318" cy="1502569"/>
          </a:xfrm>
          <a:prstGeom prst="roundRect">
            <a:avLst>
              <a:gd name="adj" fmla="val 4227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151807" y="3519289"/>
            <a:ext cx="32145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📋</a:t>
            </a: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Documentation &amp; Communication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151807" y="4163318"/>
            <a:ext cx="3214508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documentation, presentation preparation, and professional workplace communication.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61475" y="4978896"/>
            <a:ext cx="3542219" cy="1219994"/>
          </a:xfrm>
          <a:prstGeom prst="roundRect">
            <a:avLst>
              <a:gd name="adj" fmla="val 5206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5380" y="5142805"/>
            <a:ext cx="3214409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🛡</a:t>
            </a: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DevSecOps Principles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25380" y="5504259"/>
            <a:ext cx="3214409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of security into DevOps workflows — security scanning, dependency checks, and secret detection.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24639" y="4978896"/>
            <a:ext cx="3542318" cy="1219994"/>
          </a:xfrm>
          <a:prstGeom prst="roundRect">
            <a:avLst>
              <a:gd name="adj" fmla="val 5206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488544" y="5142805"/>
            <a:ext cx="321450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🧩</a:t>
            </a: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Problem-Solving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488544" y="5504259"/>
            <a:ext cx="3214508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Debugging pipeline configurations, resolving environment issues, and applying logical troubleshooting.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87902" y="4978896"/>
            <a:ext cx="3542318" cy="1219994"/>
          </a:xfrm>
          <a:prstGeom prst="roundRect">
            <a:avLst>
              <a:gd name="adj" fmla="val 5206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151807" y="5142805"/>
            <a:ext cx="321450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🐳</a:t>
            </a:r>
            <a:r>
              <a:rPr lang="en-US" sz="17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Docker &amp; Containers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51807" y="5504259"/>
            <a:ext cx="3214508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basics, container images, containerisation concepts, and container-based deployment strategies.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4789"/>
            <a:ext cx="1419487" cy="163413"/>
          </a:xfrm>
          <a:prstGeom prst="roundRect">
            <a:avLst>
              <a:gd name="adj" fmla="val 22104"/>
            </a:avLst>
          </a:prstGeom>
          <a:noFill/>
          <a:ln w="6350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25965" y="567035"/>
            <a:ext cx="1900091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 — MENTOR SUGGESTIONS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22610"/>
            <a:ext cx="10868745" cy="40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Suggestions from Mentors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148755"/>
            <a:ext cx="10868745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Professional Guidance Received During the Internship Period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41351"/>
            <a:ext cx="10868745" cy="645021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164" y="1683147"/>
            <a:ext cx="161226" cy="161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5295" y="1561505"/>
            <a:ext cx="1024477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Solve Real Industrial Problems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65295" y="1799034"/>
            <a:ext cx="10244774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understanding practical industrial challenges and develop solutions that address genuine operational needs rather than academic exercises.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47491"/>
            <a:ext cx="10868745" cy="64502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164" y="2389287"/>
            <a:ext cx="161226" cy="16123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65295" y="2267645"/>
            <a:ext cx="1024477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Understand Tools In Depth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165295" y="2505174"/>
            <a:ext cx="10244774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 beyond basic usage — understand how tools work internally, their configuration options, limitations, and best practices.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53630"/>
            <a:ext cx="10868745" cy="645021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164" y="3095427"/>
            <a:ext cx="161226" cy="16123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65295" y="2973784"/>
            <a:ext cx="1024477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Follow Secure Development Practices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1165295" y="3211314"/>
            <a:ext cx="10244774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 security at every phase of development. Adopt DevSecOps principles and ensure code, dependencies, and secrets are managed securely.</a:t>
            </a:r>
            <a:endParaRPr lang="en-US" sz="8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59770"/>
            <a:ext cx="10868745" cy="645021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2164" y="3801566"/>
            <a:ext cx="161226" cy="16123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165295" y="3679924"/>
            <a:ext cx="1024477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Maintain Technical Documentation</a:t>
            </a:r>
            <a:endParaRPr lang="en-US" sz="1200" dirty="0"/>
          </a:p>
        </p:txBody>
      </p:sp>
      <p:sp>
        <p:nvSpPr>
          <p:cNvPr id="21" name="Text 11"/>
          <p:cNvSpPr/>
          <p:nvPr/>
        </p:nvSpPr>
        <p:spPr>
          <a:xfrm>
            <a:off x="1165295" y="3917454"/>
            <a:ext cx="10244774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 every process, configuration, and decision. Good documentation enables collaboration and knowledge transfer.</a:t>
            </a:r>
            <a:endParaRPr lang="en-US" sz="8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65910"/>
            <a:ext cx="10868745" cy="645021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164" y="4507706"/>
            <a:ext cx="161226" cy="16123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165295" y="4386064"/>
            <a:ext cx="1024477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Automate Repetitive Workflows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1165295" y="4623594"/>
            <a:ext cx="10244774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and automate manual, repetitive processes using CI/CD pipelines, scripts, and infrastructure-as-code approaches.</a:t>
            </a:r>
            <a:endParaRPr lang="en-US" sz="8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72050"/>
            <a:ext cx="10868745" cy="645021"/>
          </a:xfrm>
          <a:prstGeom prst="rect">
            <a:avLst/>
          </a:prstGeom>
        </p:spPr>
      </p:pic>
      <p:pic>
        <p:nvPicPr>
          <p:cNvPr id="2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2164" y="5213846"/>
            <a:ext cx="161226" cy="16123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1165295" y="5092204"/>
            <a:ext cx="1024477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Build Scalable and Maintainable Solutions</a:t>
            </a:r>
            <a:endParaRPr lang="en-US" sz="1200" dirty="0"/>
          </a:p>
        </p:txBody>
      </p:sp>
      <p:sp>
        <p:nvSpPr>
          <p:cNvPr id="29" name="Text 15"/>
          <p:cNvSpPr/>
          <p:nvPr/>
        </p:nvSpPr>
        <p:spPr>
          <a:xfrm>
            <a:off x="1165295" y="5329734"/>
            <a:ext cx="10244774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platforms and systems with scalability and maintainability in mind so they can evolve without requiring complete rewrites.</a:t>
            </a:r>
            <a:endParaRPr lang="en-US" sz="800" dirty="0"/>
          </a:p>
        </p:txBody>
      </p:sp>
      <p:pic>
        <p:nvPicPr>
          <p:cNvPr id="3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678190"/>
            <a:ext cx="10868745" cy="645021"/>
          </a:xfrm>
          <a:prstGeom prst="rect">
            <a:avLst/>
          </a:prstGeom>
        </p:spPr>
      </p:pic>
      <p:pic>
        <p:nvPicPr>
          <p:cNvPr id="31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2164" y="5919986"/>
            <a:ext cx="161226" cy="161230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1165295" y="5798344"/>
            <a:ext cx="10244774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Continue Learning Modern Technologies</a:t>
            </a:r>
            <a:endParaRPr lang="en-US" sz="1200" dirty="0"/>
          </a:p>
        </p:txBody>
      </p:sp>
      <p:sp>
        <p:nvSpPr>
          <p:cNvPr id="33" name="Text 17"/>
          <p:cNvSpPr/>
          <p:nvPr/>
        </p:nvSpPr>
        <p:spPr>
          <a:xfrm>
            <a:off x="1165295" y="6035873"/>
            <a:ext cx="10244774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Continuously develop skills in DevOps, DevSecOps, cloud infrastructure, container orchestration, and related modern technologies.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0685"/>
            <a:ext cx="2081458" cy="269180"/>
          </a:xfrm>
          <a:prstGeom prst="roundRect">
            <a:avLst>
              <a:gd name="adj" fmla="val 22119"/>
            </a:avLst>
          </a:prstGeom>
          <a:noFill/>
          <a:ln w="12700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7735" y="613767"/>
            <a:ext cx="2478522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 — REMAINING PERIOD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96243"/>
            <a:ext cx="10868745" cy="66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Action Plan for Remaining Internship Period</a:t>
            </a:r>
            <a:endParaRPr lang="en-US" sz="4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07666"/>
            <a:ext cx="3512157" cy="13857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923" y="2003921"/>
            <a:ext cx="3043459" cy="993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Further Improve the DevSecOps Disaster Recovery Platform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720" y="1807666"/>
            <a:ext cx="3512157" cy="13857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12167" y="2003921"/>
            <a:ext cx="3043459" cy="66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Improve Dashboard UI and User Experience</a:t>
            </a:r>
            <a:endParaRPr lang="en-US" sz="2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964" y="1807666"/>
            <a:ext cx="3512157" cy="13857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90412" y="2003921"/>
            <a:ext cx="3043459" cy="66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Enhance CI/CD Automation</a:t>
            </a:r>
            <a:endParaRPr lang="en-US" sz="2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59547"/>
            <a:ext cx="3512157" cy="13857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3923" y="3555802"/>
            <a:ext cx="3043459" cy="993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Improve Containerization and Deployment Workflows</a:t>
            </a:r>
            <a:endParaRPr lang="en-US" sz="2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720" y="3359547"/>
            <a:ext cx="3512157" cy="13857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12167" y="3555802"/>
            <a:ext cx="3043459" cy="66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Strengthen Monitoring and Recovery Metrics</a:t>
            </a:r>
            <a:endParaRPr lang="en-US" sz="2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964" y="3359547"/>
            <a:ext cx="3512157" cy="138578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90412" y="3555802"/>
            <a:ext cx="3043459" cy="66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Improve Security Scanning and Logging</a:t>
            </a:r>
            <a:endParaRPr lang="en-US" sz="2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911427"/>
            <a:ext cx="3512157" cy="138578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33923" y="5107682"/>
            <a:ext cx="3043459" cy="66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Perform Testing and Documentation</a:t>
            </a:r>
            <a:endParaRPr lang="en-US" sz="20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720" y="4911427"/>
            <a:ext cx="3512157" cy="138578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4612167" y="5107682"/>
            <a:ext cx="3043459" cy="993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Continue Developing Practical Industrial Solutions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1318</Words>
  <Application>Microsoft Office PowerPoint</Application>
  <PresentationFormat>Widescreen</PresentationFormat>
  <Paragraphs>208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Marcellus</vt:lpstr>
      <vt:lpstr>Arial</vt:lpstr>
      <vt:lpstr>Montserrat</vt:lpstr>
      <vt:lpstr>Montserrat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mangesh lale</dc:creator>
  <cp:lastModifiedBy>mangesh lale</cp:lastModifiedBy>
  <cp:revision>9</cp:revision>
  <dcterms:created xsi:type="dcterms:W3CDTF">2026-07-22T15:55:30Z</dcterms:created>
  <dcterms:modified xsi:type="dcterms:W3CDTF">2026-08-02T07:01:22Z</dcterms:modified>
</cp:coreProperties>
</file>